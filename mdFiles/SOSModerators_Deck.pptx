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34D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6000" b="1" dirty="0">
                <a:solidFill>
                  <a:srgbClr val="E6EDF3"/>
                </a:solidFill>
                <a:latin typeface="Segoe UI Semibold"/>
              </a:rPr>
              <a:t>SOS Moderators</a:t>
            </a:r>
            <a:endParaRPr sz="6000" b="1" dirty="0">
              <a:solidFill>
                <a:srgbClr val="E6EDF3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4500"/>
                </a:solidFill>
                <a:latin typeface="Segoe UI"/>
              </a:rPr>
              <a:t>The All-In-One Moderator Co-Pilot for Reddit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Segoe UI"/>
              </a:rPr>
              <a:t>Reddit Mod Tools &amp; Migrated Apps Hackathon  ·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44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Segoe UI"/>
              </a:rPr>
              <a:t>Category: Best New Mod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28616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8B949E"/>
                </a:solidFill>
                <a:latin typeface="Segoe UI"/>
              </a:rPr>
              <a:t>Built </a:t>
            </a:r>
            <a:r>
              <a:rPr lang="en-US" sz="1600" b="0" dirty="0">
                <a:solidFill>
                  <a:srgbClr val="8B949E"/>
                </a:solidFill>
                <a:latin typeface="Segoe UI"/>
              </a:rPr>
              <a:t>by: Solomon Shasanmi</a:t>
            </a:r>
            <a:endParaRPr sz="1600" b="0" dirty="0">
              <a:solidFill>
                <a:srgbClr val="8B949E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FADCF3-B10B-95B7-8B55-C8BBAED5B1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2" t="1968" r="2560" b="3818"/>
          <a:stretch>
            <a:fillRect/>
          </a:stretch>
        </p:blipFill>
        <p:spPr>
          <a:xfrm>
            <a:off x="8199783" y="2852928"/>
            <a:ext cx="3756992" cy="3721608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09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49E"/>
                </a:solidFill>
                <a:latin typeface="Segoe UI"/>
              </a:rPr>
              <a:t>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E6EDF3"/>
                </a:solidFill>
                <a:latin typeface="Segoe UI Semibold"/>
              </a:rPr>
              <a:t>What Is S</a:t>
            </a:r>
            <a:r>
              <a:rPr lang="en-US" sz="2400" b="1" dirty="0">
                <a:solidFill>
                  <a:srgbClr val="E6EDF3"/>
                </a:solidFill>
                <a:latin typeface="Segoe UI Semibold"/>
              </a:rPr>
              <a:t>OS Moderators</a:t>
            </a:r>
            <a:r>
              <a:rPr sz="2400" b="1" dirty="0">
                <a:solidFill>
                  <a:srgbClr val="E6EDF3"/>
                </a:solidFill>
                <a:latin typeface="Segoe UI Semibold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55680" cy="2286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6EDF3"/>
                </a:solidFill>
                <a:latin typeface="Segoe UI"/>
              </a:rPr>
              <a:t>S</a:t>
            </a:r>
            <a:r>
              <a:rPr lang="en-US" sz="1400" b="1" dirty="0">
                <a:solidFill>
                  <a:srgbClr val="E6EDF3"/>
                </a:solidFill>
                <a:latin typeface="Segoe UI"/>
              </a:rPr>
              <a:t>OS Moderators</a:t>
            </a:r>
            <a:r>
              <a:rPr sz="1400" b="1" dirty="0">
                <a:solidFill>
                  <a:srgbClr val="E6EDF3"/>
                </a:solidFill>
                <a:latin typeface="Segoe UI"/>
              </a:rPr>
              <a:t> is a </a:t>
            </a:r>
            <a:r>
              <a:rPr lang="en-US" sz="1400" b="1" dirty="0">
                <a:solidFill>
                  <a:srgbClr val="E6EDF3"/>
                </a:solidFill>
                <a:latin typeface="Segoe UI"/>
              </a:rPr>
              <a:t>moderation bot </a:t>
            </a:r>
            <a:r>
              <a:rPr sz="1400" b="1" dirty="0">
                <a:solidFill>
                  <a:srgbClr val="E6EDF3"/>
                </a:solidFill>
                <a:latin typeface="Segoe UI"/>
              </a:rPr>
              <a:t>built natively on Devvit, Reddit's official developer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0744"/>
            <a:ext cx="1143000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6EDF3"/>
                </a:solidFill>
                <a:latin typeface="Segoe UI"/>
              </a:rPr>
              <a:t>Designed for every moderator — from the brand-new mod on day one to veteran teams running millions-member communities.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143000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6EDF3"/>
                </a:solidFill>
                <a:latin typeface="Segoe UI"/>
              </a:rPr>
              <a:t>Works entirely inside Reddit. No external server. No OAuth setup. No developer maintenance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21992"/>
            <a:ext cx="1143000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6EDF3"/>
                </a:solidFill>
                <a:latin typeface="Segoe UI"/>
              </a:rPr>
              <a:t>Installs in one click from the App Directory and is operational immediately with sensible out-of-the-box defaults.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42616"/>
            <a:ext cx="1143000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6EDF3"/>
                </a:solidFill>
                <a:latin typeface="Segoe UI"/>
              </a:rPr>
              <a:t>Covers every stage of the moderation lifecycle: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1115568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60A5FA"/>
                </a:solidFill>
                <a:latin typeface="Segoe UI"/>
              </a:rPr>
              <a:t>▸  Prevention  →  Detection  →  Enforcement  →  Transparency  →  Recovery  →  Community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83864"/>
            <a:ext cx="1143000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34D399"/>
                </a:solidFill>
                <a:latin typeface="Segoe UI"/>
              </a:rPr>
              <a:t>The first Devvit app to integrate a data-grounded AI co-pilot (Coach) that answers plain-English questions about a specific subreddit's live data, with no API key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 cartoon of a robot helping another robot in a boat&#10;&#10;AI-generated content may be incorrect.">
            <a:extLst>
              <a:ext uri="{FF2B5EF4-FFF2-40B4-BE49-F238E27FC236}">
                <a16:creationId xmlns:a16="http://schemas.microsoft.com/office/drawing/2014/main" id="{38E08EC8-2ACC-D6CD-4337-C0C7BE5741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2" t="1600" r="3794" b="3734"/>
          <a:stretch>
            <a:fillRect/>
          </a:stretch>
        </p:blipFill>
        <p:spPr>
          <a:xfrm>
            <a:off x="8844425" y="4194353"/>
            <a:ext cx="2277461" cy="2324433"/>
          </a:xfrm>
          <a:prstGeom prst="ellipse">
            <a:avLst/>
          </a:prstGeom>
        </p:spPr>
      </p:pic>
      <p:pic>
        <p:nvPicPr>
          <p:cNvPr id="16" name="Picture 15" descr="A cartoon of a robot helping another robot in a boat&#10;&#10;AI-generated content may be incorrect.">
            <a:extLst>
              <a:ext uri="{FF2B5EF4-FFF2-40B4-BE49-F238E27FC236}">
                <a16:creationId xmlns:a16="http://schemas.microsoft.com/office/drawing/2014/main" id="{E0C03E4D-9AF0-55C4-7BDD-ECF5EDD7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2" t="1600" r="3794" b="3734"/>
          <a:stretch>
            <a:fillRect/>
          </a:stretch>
        </p:blipFill>
        <p:spPr>
          <a:xfrm>
            <a:off x="5079189" y="4245169"/>
            <a:ext cx="2277461" cy="2324433"/>
          </a:xfrm>
          <a:prstGeom prst="ellipse">
            <a:avLst/>
          </a:prstGeom>
        </p:spPr>
      </p:pic>
      <p:pic>
        <p:nvPicPr>
          <p:cNvPr id="17" name="Picture 16" descr="A cartoon of a robot helping another robot in a boat&#10;&#10;AI-generated content may be incorrect.">
            <a:extLst>
              <a:ext uri="{FF2B5EF4-FFF2-40B4-BE49-F238E27FC236}">
                <a16:creationId xmlns:a16="http://schemas.microsoft.com/office/drawing/2014/main" id="{B40A7BC7-F9EF-388A-A305-0648B941E4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2" t="1600" r="3794" b="3734"/>
          <a:stretch>
            <a:fillRect/>
          </a:stretch>
        </p:blipFill>
        <p:spPr>
          <a:xfrm>
            <a:off x="1313953" y="4245169"/>
            <a:ext cx="2277461" cy="2324433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09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49E"/>
                </a:solidFill>
                <a:latin typeface="Segoe UI"/>
              </a:rPr>
              <a:t>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E6EDF3"/>
                </a:solidFill>
                <a:latin typeface="Segoe UI Semibold"/>
              </a:rPr>
              <a:t>The Problem — The Moderation Crisis on Reddit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55680" cy="2286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E6EDF3"/>
                </a:solidFill>
                <a:latin typeface="Segoe UI"/>
              </a:rPr>
              <a:t>Reddit runs on billions of posts managed almost entirely by unpaid volunteer moderators.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7221"/>
            <a:ext cx="7060758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E6EDF3"/>
                </a:solidFill>
                <a:latin typeface="Segoe UI"/>
              </a:rPr>
              <a:t>The </a:t>
            </a:r>
            <a:r>
              <a:rPr lang="en-US" sz="2000" b="1" dirty="0">
                <a:solidFill>
                  <a:srgbClr val="E6EDF3"/>
                </a:solidFill>
                <a:latin typeface="Segoe UI"/>
              </a:rPr>
              <a:t>A</a:t>
            </a:r>
            <a:r>
              <a:rPr sz="2000" b="1" dirty="0">
                <a:solidFill>
                  <a:srgbClr val="E6EDF3"/>
                </a:solidFill>
                <a:latin typeface="Segoe UI"/>
              </a:rPr>
              <a:t>ttack </a:t>
            </a:r>
            <a:r>
              <a:rPr lang="en-US" sz="2000" b="1" dirty="0">
                <a:solidFill>
                  <a:srgbClr val="E6EDF3"/>
                </a:solidFill>
                <a:latin typeface="Segoe UI"/>
              </a:rPr>
              <a:t>S</a:t>
            </a:r>
            <a:r>
              <a:rPr sz="2000" b="1" dirty="0">
                <a:solidFill>
                  <a:srgbClr val="E6EDF3"/>
                </a:solidFill>
                <a:latin typeface="Segoe UI"/>
              </a:rPr>
              <a:t>urface is </a:t>
            </a:r>
            <a:r>
              <a:rPr lang="en-US" sz="2000" b="1" dirty="0">
                <a:solidFill>
                  <a:srgbClr val="E6EDF3"/>
                </a:solidFill>
                <a:latin typeface="Segoe UI"/>
              </a:rPr>
              <a:t>G</a:t>
            </a:r>
            <a:r>
              <a:rPr sz="2000" b="1" dirty="0">
                <a:solidFill>
                  <a:srgbClr val="E6EDF3"/>
                </a:solidFill>
                <a:latin typeface="Segoe UI"/>
              </a:rPr>
              <a:t>rowing </a:t>
            </a:r>
            <a:r>
              <a:rPr lang="en-US" sz="2000" b="1" dirty="0">
                <a:solidFill>
                  <a:srgbClr val="E6EDF3"/>
                </a:solidFill>
                <a:latin typeface="Segoe UI"/>
              </a:rPr>
              <a:t>F</a:t>
            </a:r>
            <a:r>
              <a:rPr sz="2000" b="1" dirty="0">
                <a:solidFill>
                  <a:srgbClr val="E6EDF3"/>
                </a:solidFill>
                <a:latin typeface="Segoe UI"/>
              </a:rPr>
              <a:t>ast:</a:t>
            </a:r>
            <a:endParaRPr lang="en-US" sz="2000" b="1" dirty="0">
              <a:solidFill>
                <a:srgbClr val="E6EDF3"/>
              </a:solidFill>
              <a:latin typeface="Segoe UI"/>
            </a:endParaRPr>
          </a:p>
          <a:p>
            <a:pPr lvl="1"/>
            <a:endParaRPr lang="en-US" sz="1400" dirty="0">
              <a:solidFill>
                <a:srgbClr val="FBBF24"/>
              </a:solidFill>
              <a:latin typeface="Segoe UI"/>
            </a:endParaRPr>
          </a:p>
          <a:p>
            <a:pPr lvl="1"/>
            <a:r>
              <a:rPr lang="en-US" sz="1400" dirty="0">
                <a:solidFill>
                  <a:srgbClr val="FBBF24"/>
                </a:solidFill>
                <a:latin typeface="Segoe UI"/>
              </a:rPr>
              <a:t>▸  </a:t>
            </a:r>
            <a:r>
              <a:rPr lang="en-US" sz="1400" b="1" dirty="0">
                <a:solidFill>
                  <a:srgbClr val="FBBF24"/>
                </a:solidFill>
                <a:latin typeface="Segoe UI"/>
              </a:rPr>
              <a:t>MASS REPORT</a:t>
            </a:r>
            <a:r>
              <a:rPr lang="en-US" sz="1400" dirty="0">
                <a:solidFill>
                  <a:srgbClr val="FBBF24"/>
                </a:solidFill>
                <a:latin typeface="Segoe UI"/>
              </a:rPr>
              <a:t> campaigns clog modqueues and exhaust mod teams</a:t>
            </a:r>
          </a:p>
          <a:p>
            <a:pPr lvl="1"/>
            <a:r>
              <a:rPr lang="en-US" sz="1400" dirty="0">
                <a:solidFill>
                  <a:srgbClr val="FBBF24"/>
                </a:solidFill>
                <a:latin typeface="Segoe UI"/>
              </a:rPr>
              <a:t>▸  </a:t>
            </a:r>
            <a:r>
              <a:rPr lang="en-US" sz="1400" b="1" dirty="0">
                <a:solidFill>
                  <a:srgbClr val="FBBF24"/>
                </a:solidFill>
                <a:latin typeface="Segoe UI"/>
              </a:rPr>
              <a:t>COORDINATED RAIDS</a:t>
            </a:r>
            <a:r>
              <a:rPr lang="en-US" sz="1400" dirty="0">
                <a:solidFill>
                  <a:srgbClr val="FBBF24"/>
                </a:solidFill>
                <a:latin typeface="Segoe UI"/>
              </a:rPr>
              <a:t> flood feeds with off-topic content before mods can respond</a:t>
            </a:r>
          </a:p>
          <a:p>
            <a:pPr lvl="1"/>
            <a:r>
              <a:rPr lang="en-US" sz="1400" dirty="0">
                <a:solidFill>
                  <a:srgbClr val="FBBF24"/>
                </a:solidFill>
                <a:latin typeface="Segoe UI"/>
              </a:rPr>
              <a:t>▸  </a:t>
            </a:r>
            <a:r>
              <a:rPr lang="en-US" sz="1400" b="1" dirty="0">
                <a:solidFill>
                  <a:srgbClr val="FBBF24"/>
                </a:solidFill>
                <a:latin typeface="Segoe UI"/>
              </a:rPr>
              <a:t>BAN EVASION</a:t>
            </a:r>
            <a:r>
              <a:rPr lang="en-US" sz="1400" dirty="0">
                <a:solidFill>
                  <a:srgbClr val="FBBF24"/>
                </a:solidFill>
                <a:latin typeface="Segoe UI"/>
              </a:rPr>
              <a:t> networks use aged sockpuppet accounts to bypass bans repeatedly</a:t>
            </a:r>
          </a:p>
          <a:p>
            <a:pPr lvl="1"/>
            <a:r>
              <a:rPr lang="en-US" sz="1400" dirty="0">
                <a:solidFill>
                  <a:srgbClr val="FBBF24"/>
                </a:solidFill>
                <a:latin typeface="Segoe UI"/>
              </a:rPr>
              <a:t>▸  AI-generated </a:t>
            </a:r>
            <a:r>
              <a:rPr lang="en-US" sz="1400" b="1" dirty="0">
                <a:solidFill>
                  <a:srgbClr val="FBBF24"/>
                </a:solidFill>
                <a:latin typeface="Segoe UI"/>
              </a:rPr>
              <a:t>SPAM</a:t>
            </a:r>
            <a:r>
              <a:rPr lang="en-US" sz="1400" dirty="0">
                <a:solidFill>
                  <a:srgbClr val="FBBF24"/>
                </a:solidFill>
                <a:latin typeface="Segoe UI"/>
              </a:rPr>
              <a:t> floods create thousands of low-quality posts per hour</a:t>
            </a:r>
          </a:p>
          <a:p>
            <a:pPr lvl="1"/>
            <a:r>
              <a:rPr lang="en-US" sz="1400" dirty="0">
                <a:solidFill>
                  <a:srgbClr val="FBBF24"/>
                </a:solidFill>
                <a:latin typeface="Segoe UI"/>
              </a:rPr>
              <a:t>▸  </a:t>
            </a:r>
            <a:r>
              <a:rPr lang="en-US" sz="1400" b="1" dirty="0">
                <a:solidFill>
                  <a:srgbClr val="FBBF24"/>
                </a:solidFill>
                <a:latin typeface="Segoe UI"/>
              </a:rPr>
              <a:t>REGEX EVASION</a:t>
            </a:r>
            <a:r>
              <a:rPr lang="en-US" sz="1400" dirty="0">
                <a:solidFill>
                  <a:srgbClr val="FBBF24"/>
                </a:solidFill>
                <a:latin typeface="Segoe UI"/>
              </a:rPr>
              <a:t> (zero-width spaces, lookalike characters) defeats keyword filters</a:t>
            </a:r>
          </a:p>
          <a:p>
            <a:pPr lvl="1"/>
            <a:r>
              <a:rPr lang="en-US" sz="1400" dirty="0">
                <a:solidFill>
                  <a:srgbClr val="FBBF24"/>
                </a:solidFill>
                <a:latin typeface="Segoe UI"/>
              </a:rPr>
              <a:t>▸  Brigading, vote manipulation rings, and false-flag operations degrade </a:t>
            </a:r>
            <a:r>
              <a:rPr lang="en-US" sz="1400" b="1" dirty="0">
                <a:solidFill>
                  <a:srgbClr val="FBBF24"/>
                </a:solidFill>
                <a:latin typeface="Segoe UI"/>
              </a:rPr>
              <a:t>COMMUNITY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48278"/>
            <a:ext cx="11430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E6EDF3"/>
                </a:solidFill>
                <a:latin typeface="Segoe UI"/>
              </a:rPr>
              <a:t>The </a:t>
            </a:r>
            <a:r>
              <a:rPr lang="en-US" sz="2000" b="1" dirty="0">
                <a:solidFill>
                  <a:srgbClr val="E6EDF3"/>
                </a:solidFill>
                <a:latin typeface="Segoe UI"/>
              </a:rPr>
              <a:t>H</a:t>
            </a:r>
            <a:r>
              <a:rPr sz="2000" b="1" dirty="0">
                <a:solidFill>
                  <a:srgbClr val="E6EDF3"/>
                </a:solidFill>
                <a:latin typeface="Segoe UI"/>
              </a:rPr>
              <a:t>uman </a:t>
            </a:r>
            <a:r>
              <a:rPr lang="en-US" sz="2000" b="1" dirty="0">
                <a:solidFill>
                  <a:srgbClr val="E6EDF3"/>
                </a:solidFill>
                <a:latin typeface="Segoe UI"/>
              </a:rPr>
              <a:t>C</a:t>
            </a:r>
            <a:r>
              <a:rPr sz="2000" b="1" dirty="0">
                <a:solidFill>
                  <a:srgbClr val="E6EDF3"/>
                </a:solidFill>
                <a:latin typeface="Segoe UI"/>
              </a:rPr>
              <a:t>ost is </a:t>
            </a:r>
            <a:r>
              <a:rPr lang="en-US" sz="2000" b="1" dirty="0">
                <a:solidFill>
                  <a:srgbClr val="E6EDF3"/>
                </a:solidFill>
                <a:latin typeface="Segoe UI"/>
              </a:rPr>
              <a:t>R</a:t>
            </a:r>
            <a:r>
              <a:rPr sz="2000" b="1" dirty="0">
                <a:solidFill>
                  <a:srgbClr val="E6EDF3"/>
                </a:solidFill>
                <a:latin typeface="Segoe UI"/>
              </a:rPr>
              <a:t>eal:</a:t>
            </a:r>
            <a:endParaRPr lang="en-US" sz="2000" b="1" dirty="0">
              <a:solidFill>
                <a:srgbClr val="E6EDF3"/>
              </a:solidFill>
              <a:latin typeface="Segoe UI"/>
            </a:endParaRPr>
          </a:p>
          <a:p>
            <a:pPr lvl="1"/>
            <a:endParaRPr lang="en-US" sz="1400" dirty="0">
              <a:solidFill>
                <a:srgbClr val="8B949E"/>
              </a:solidFill>
              <a:latin typeface="Segoe UI"/>
            </a:endParaRPr>
          </a:p>
          <a:p>
            <a:pPr lvl="1"/>
            <a:r>
              <a:rPr lang="en-US" sz="1400" dirty="0">
                <a:solidFill>
                  <a:srgbClr val="8B949E"/>
                </a:solidFill>
                <a:latin typeface="Segoe UI"/>
              </a:rPr>
              <a:t>▸  Only 0.6% of communities provide removal explanations — silently removing legitimate users is the norm  (Jhaver et al., CSCW 2019)</a:t>
            </a:r>
          </a:p>
          <a:p>
            <a:pPr lvl="1"/>
            <a:r>
              <a:rPr lang="en-US" sz="1400" dirty="0">
                <a:solidFill>
                  <a:srgbClr val="8B949E"/>
                </a:solidFill>
                <a:latin typeface="Segoe UI"/>
              </a:rPr>
              <a:t>▸  The #1 mod time sink is leaving the queue to find user history and decision precedent  (Bajpai &amp; Chandrasekharan, CHI 2026)</a:t>
            </a:r>
          </a:p>
          <a:p>
            <a:pPr lvl="1"/>
            <a:r>
              <a:rPr lang="en-US" sz="1400" dirty="0">
                <a:solidFill>
                  <a:srgbClr val="8B949E"/>
                </a:solidFill>
                <a:latin typeface="Segoe UI"/>
              </a:rPr>
              <a:t>▸  ~80% of Reddit traffic is mobile — sidebar rules are effectively invisible to most users  (Juneja et al., Group 2020)</a:t>
            </a:r>
          </a:p>
          <a:p>
            <a:pPr lvl="1"/>
            <a:r>
              <a:rPr lang="en-US" sz="1400" dirty="0">
                <a:solidFill>
                  <a:srgbClr val="8B949E"/>
                </a:solidFill>
                <a:latin typeface="Segoe UI"/>
              </a:rPr>
              <a:t>▸  Volunteer burnout is driven by constant toxic exposure and time pressure — not a lack of tools, but a lack of the right tools  (</a:t>
            </a:r>
            <a:r>
              <a:rPr lang="en-US" sz="1400" dirty="0" err="1">
                <a:solidFill>
                  <a:srgbClr val="8B949E"/>
                </a:solidFill>
                <a:latin typeface="Segoe UI"/>
              </a:rPr>
              <a:t>UMich</a:t>
            </a:r>
            <a:r>
              <a:rPr lang="en-US" sz="1400" dirty="0">
                <a:solidFill>
                  <a:srgbClr val="8B949E"/>
                </a:solidFill>
                <a:latin typeface="Segoe UI"/>
              </a:rPr>
              <a:t> 2023)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utoShape 2" descr="Reddit rolls out 'Community Award' system sitewide | TechSpot">
            <a:extLst>
              <a:ext uri="{FF2B5EF4-FFF2-40B4-BE49-F238E27FC236}">
                <a16:creationId xmlns:a16="http://schemas.microsoft.com/office/drawing/2014/main" id="{5FE904E7-2594-4C96-C16A-AD6585A962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81ADE8A-59E9-E9FD-39A1-263849995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678" y="2106441"/>
            <a:ext cx="4148067" cy="2166933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09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49E"/>
                </a:solidFill>
                <a:latin typeface="Segoe UI"/>
              </a:rPr>
              <a:t>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EDF3"/>
                </a:solidFill>
                <a:latin typeface="Segoe UI Semibold"/>
              </a:rPr>
              <a:t>Current Solutions — And Why They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7162917" cy="2286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733905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60A5FA"/>
                </a:solidFill>
                <a:latin typeface="Segoe UI"/>
              </a:rPr>
              <a:t>AutoModerator</a:t>
            </a:r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endParaRPr lang="en-US" sz="1400" dirty="0">
              <a:solidFill>
                <a:srgbClr val="E6EDF3"/>
              </a:solidFill>
              <a:latin typeface="Segoe UI"/>
            </a:endParaRPr>
          </a:p>
          <a:p>
            <a:r>
              <a:rPr lang="en-US" sz="1400" dirty="0">
                <a:solidFill>
                  <a:srgbClr val="E6EDF3"/>
                </a:solidFill>
                <a:latin typeface="Segoe UI"/>
              </a:rPr>
              <a:t>▸  Powerful for exact-match keyword rules. Blind to context, trust history, and intent.</a:t>
            </a:r>
          </a:p>
          <a:p>
            <a:r>
              <a:rPr lang="en-US" sz="1400" dirty="0">
                <a:solidFill>
                  <a:srgbClr val="E6EDF3"/>
                </a:solidFill>
                <a:latin typeface="Segoe UI"/>
              </a:rPr>
              <a:t>▸  Silent removals with no explanation. No recovery path. No predictive capability.</a:t>
            </a:r>
          </a:p>
          <a:p>
            <a:endParaRPr sz="1400" b="1" dirty="0">
              <a:solidFill>
                <a:srgbClr val="60A5FA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077041"/>
            <a:ext cx="73390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60A5FA"/>
                </a:solidFill>
                <a:latin typeface="Segoe UI"/>
              </a:rPr>
              <a:t>Toolbox</a:t>
            </a:r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endParaRPr lang="en-US" sz="1400" dirty="0">
              <a:solidFill>
                <a:srgbClr val="E6EDF3"/>
              </a:solidFill>
              <a:latin typeface="Segoe UI"/>
            </a:endParaRPr>
          </a:p>
          <a:p>
            <a:r>
              <a:rPr lang="en-US" sz="1400" dirty="0">
                <a:solidFill>
                  <a:srgbClr val="E6EDF3"/>
                </a:solidFill>
                <a:latin typeface="Segoe UI"/>
              </a:rPr>
              <a:t>▸  Excellent UI helper for experienced mods. Adds no automation, no AI, no proactive detection.</a:t>
            </a:r>
          </a:p>
          <a:p>
            <a:r>
              <a:rPr lang="en-US" sz="1400" dirty="0">
                <a:solidFill>
                  <a:srgbClr val="E6EDF3"/>
                </a:solidFill>
                <a:latin typeface="Segoe UI"/>
              </a:rPr>
              <a:t>▸  Requires mods to already know what they're doing — useless on day one.</a:t>
            </a:r>
          </a:p>
          <a:p>
            <a:endParaRPr sz="1400" b="1" dirty="0">
              <a:solidFill>
                <a:srgbClr val="60A5F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3308510"/>
            <a:ext cx="733905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60A5FA"/>
                </a:solidFill>
                <a:latin typeface="Segoe UI"/>
              </a:rPr>
              <a:t>Existing PRAW/Data API bots</a:t>
            </a:r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r>
              <a:rPr lang="en-US" sz="1400" dirty="0">
                <a:solidFill>
                  <a:srgbClr val="E6EDF3"/>
                </a:solidFill>
                <a:latin typeface="Segoe UI"/>
              </a:rPr>
              <a:t>▸  Strong at single tasks (spam removal, scheduling). Fragile, require developer maintenance.</a:t>
            </a:r>
          </a:p>
          <a:p>
            <a:r>
              <a:rPr lang="en-US" sz="1400" dirty="0">
                <a:solidFill>
                  <a:srgbClr val="E6EDF3"/>
                </a:solidFill>
                <a:latin typeface="Segoe UI"/>
              </a:rPr>
              <a:t>▸  Not installable by non-technical mods. Community-specific — can't generalize to other subs.</a:t>
            </a:r>
          </a:p>
          <a:p>
            <a:endParaRPr sz="1400" b="1" dirty="0">
              <a:solidFill>
                <a:srgbClr val="60A5FA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4817410"/>
            <a:ext cx="73390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60A5FA"/>
                </a:solidFill>
                <a:latin typeface="Segoe UI"/>
              </a:rPr>
              <a:t>Reddit native tools (Modqueue, Mod Notes, Reputation Filter, Crowd Control)</a:t>
            </a:r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endParaRPr lang="en-US" sz="1400" dirty="0">
              <a:solidFill>
                <a:srgbClr val="E6EDF3"/>
              </a:solidFill>
              <a:latin typeface="Segoe UI"/>
            </a:endParaRPr>
          </a:p>
          <a:p>
            <a:r>
              <a:rPr lang="en-US" sz="1400" dirty="0">
                <a:solidFill>
                  <a:srgbClr val="E6EDF3"/>
                </a:solidFill>
                <a:latin typeface="Segoe UI"/>
              </a:rPr>
              <a:t>▸  Reactive by design. No predictive detection, no community analytics, no trust scoring.</a:t>
            </a:r>
          </a:p>
          <a:p>
            <a:r>
              <a:rPr lang="en-US" sz="1400" dirty="0">
                <a:solidFill>
                  <a:srgbClr val="E6EDF3"/>
                </a:solidFill>
                <a:latin typeface="Segoe UI"/>
              </a:rPr>
              <a:t>▸  Crowd Control filters individual low-karma comments — cannot track escalation patterns across a thread chain.</a:t>
            </a:r>
          </a:p>
          <a:p>
            <a:endParaRPr sz="1400" b="1" dirty="0">
              <a:solidFill>
                <a:srgbClr val="60A5FA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5995966"/>
            <a:ext cx="1143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FBBF24"/>
                </a:solidFill>
                <a:latin typeface="Segoe UI"/>
              </a:rPr>
              <a:t>What every existing solution misses:</a:t>
            </a:r>
            <a:endParaRPr lang="en-US" sz="1400" b="1" dirty="0">
              <a:solidFill>
                <a:srgbClr val="FBBF24"/>
              </a:solidFill>
              <a:latin typeface="Segoe UI"/>
            </a:endParaRPr>
          </a:p>
          <a:p>
            <a:endParaRPr lang="en-US" sz="1400" dirty="0">
              <a:solidFill>
                <a:srgbClr val="34D399"/>
              </a:solidFill>
              <a:latin typeface="Segoe UI"/>
            </a:endParaRPr>
          </a:p>
          <a:p>
            <a:r>
              <a:rPr lang="en-US" sz="1400" dirty="0">
                <a:solidFill>
                  <a:srgbClr val="34D399"/>
                </a:solidFill>
                <a:latin typeface="Segoe UI"/>
              </a:rPr>
              <a:t>▸  A unified system that prevents, detects, explains, recovers, and teaches — in a single one-click install.</a:t>
            </a:r>
          </a:p>
          <a:p>
            <a:endParaRPr sz="1400" b="1" dirty="0">
              <a:solidFill>
                <a:srgbClr val="FBBF24"/>
              </a:solidFill>
              <a:latin typeface="Segoe U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04CF26-2736-FC09-5C4C-2B19F455FC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22" r="13731"/>
          <a:stretch>
            <a:fillRect/>
          </a:stretch>
        </p:blipFill>
        <p:spPr>
          <a:xfrm>
            <a:off x="8869680" y="796222"/>
            <a:ext cx="2514600" cy="17925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FC060F7-F503-28E0-DE85-D18FC4927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718" y="2685767"/>
            <a:ext cx="3110187" cy="17772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3C7CB0-D860-086F-EE61-2381C14C2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255" y="3712486"/>
            <a:ext cx="3090650" cy="3090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09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49E"/>
                </a:solidFill>
                <a:latin typeface="Segoe UI"/>
              </a:rPr>
              <a:t>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EDF3"/>
                </a:solidFill>
                <a:latin typeface="Segoe UI Semibold"/>
              </a:rPr>
              <a:t>Our Solution — One Install. Every Stage.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55680" cy="2286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710051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60A5FA"/>
                </a:solidFill>
                <a:latin typeface="Segoe UI"/>
              </a:rPr>
              <a:t>Prevention</a:t>
            </a:r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r>
              <a:rPr lang="en-US" sz="1400" dirty="0">
                <a:solidFill>
                  <a:srgbClr val="E6EDF3"/>
                </a:solidFill>
                <a:latin typeface="Segoe UI"/>
              </a:rPr>
              <a:t>▸  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Posts caught and held in review. Author receives an instant PM naming the exact signal, the exact phrase, and the exact fix.</a:t>
            </a:r>
          </a:p>
          <a:p>
            <a:r>
              <a:rPr lang="en-US" sz="1200" dirty="0">
                <a:solidFill>
                  <a:srgbClr val="E6EDF3"/>
                </a:solidFill>
                <a:latin typeface="Segoe UI"/>
              </a:rPr>
              <a:t>▸  Converts a removal event into an onboarding event. Jhaver et al. measured a 20.8% drop in repeat removals when explanations are provided.</a:t>
            </a:r>
          </a:p>
          <a:p>
            <a:endParaRPr sz="1400" b="1" dirty="0">
              <a:solidFill>
                <a:srgbClr val="60A5FA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710051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60A5FA"/>
                </a:solidFill>
                <a:latin typeface="Segoe UI"/>
              </a:rPr>
              <a:t>Detection</a:t>
            </a:r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r>
              <a:rPr lang="en-US" sz="1200" dirty="0">
                <a:solidFill>
                  <a:srgbClr val="E6EDF3"/>
                </a:solidFill>
                <a:latin typeface="Segoe UI"/>
              </a:rPr>
              <a:t>▸  9-signal </a:t>
            </a:r>
            <a:r>
              <a:rPr lang="en-US" sz="1200" b="1" dirty="0">
                <a:solidFill>
                  <a:srgbClr val="E6EDF3"/>
                </a:solidFill>
                <a:latin typeface="Segoe UI"/>
              </a:rPr>
              <a:t>SPAM SCORER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, Levenshtein-based </a:t>
            </a:r>
            <a:r>
              <a:rPr lang="en-US" sz="1200" b="1" dirty="0">
                <a:solidFill>
                  <a:srgbClr val="E6EDF3"/>
                </a:solidFill>
                <a:latin typeface="Segoe UI"/>
              </a:rPr>
              <a:t>BAN EVASION DETECTION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, coordinated inauthentic behavior </a:t>
            </a:r>
            <a:r>
              <a:rPr lang="en-US" sz="1200" b="1" dirty="0">
                <a:solidFill>
                  <a:srgbClr val="E6EDF3"/>
                </a:solidFill>
                <a:latin typeface="Segoe UI"/>
              </a:rPr>
              <a:t>(CIB) DETECTION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, </a:t>
            </a:r>
            <a:r>
              <a:rPr lang="en-US" sz="1200" b="1" dirty="0">
                <a:solidFill>
                  <a:srgbClr val="E6EDF3"/>
                </a:solidFill>
                <a:latin typeface="Segoe UI"/>
              </a:rPr>
              <a:t>VOLUME SPIKE MONITORING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.</a:t>
            </a:r>
          </a:p>
          <a:p>
            <a:endParaRPr sz="1400" b="1" dirty="0">
              <a:solidFill>
                <a:srgbClr val="60A5FA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865120"/>
            <a:ext cx="71005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60A5FA"/>
                </a:solidFill>
                <a:latin typeface="Segoe UI"/>
              </a:rPr>
              <a:t>Trust System (0–1000)</a:t>
            </a:r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r>
              <a:rPr lang="en-US" sz="1200" dirty="0">
                <a:solidFill>
                  <a:srgbClr val="E6EDF3"/>
                </a:solidFill>
                <a:latin typeface="Segoe UI"/>
              </a:rPr>
              <a:t>▸  Per-subreddit </a:t>
            </a:r>
            <a:r>
              <a:rPr lang="en-US" sz="1200" b="1" dirty="0">
                <a:solidFill>
                  <a:srgbClr val="E6EDF3"/>
                </a:solidFill>
                <a:latin typeface="Segoe UI"/>
              </a:rPr>
              <a:t>TRUST SCORE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 built from account age, karma (logarithmic), approval rate, positive signals, and penalties. Updates after every event.</a:t>
            </a:r>
          </a:p>
          <a:p>
            <a:r>
              <a:rPr lang="en-US" sz="1200" dirty="0">
                <a:solidFill>
                  <a:srgbClr val="E6EDF3"/>
                </a:solidFill>
                <a:latin typeface="Segoe UI"/>
              </a:rPr>
              <a:t>▸  Feeds into </a:t>
            </a:r>
            <a:r>
              <a:rPr lang="en-US" sz="1200" b="1" dirty="0">
                <a:solidFill>
                  <a:srgbClr val="E6EDF3"/>
                </a:solidFill>
                <a:latin typeface="Segoe UI"/>
              </a:rPr>
              <a:t>SPAM SCORE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 as a discount multiplier — established contributors post freely; clear spam from </a:t>
            </a:r>
            <a:r>
              <a:rPr lang="en-US" sz="1200" b="1" dirty="0">
                <a:solidFill>
                  <a:srgbClr val="E6EDF3"/>
                </a:solidFill>
                <a:latin typeface="Segoe UI"/>
              </a:rPr>
              <a:t>TRUSTED USERS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 still gets caught.</a:t>
            </a:r>
          </a:p>
          <a:p>
            <a:endParaRPr lang="en-US" sz="1200" dirty="0">
              <a:solidFill>
                <a:srgbClr val="E6EDF3"/>
              </a:solidFill>
              <a:latin typeface="Segoe UI"/>
            </a:endParaRPr>
          </a:p>
          <a:p>
            <a:endParaRPr sz="1400" b="1" dirty="0">
              <a:solidFill>
                <a:srgbClr val="60A5FA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4008120"/>
            <a:ext cx="710051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60A5FA"/>
                </a:solidFill>
                <a:latin typeface="Segoe UI"/>
              </a:rPr>
              <a:t>Recovery</a:t>
            </a:r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r>
              <a:rPr lang="en-US" sz="1200" dirty="0">
                <a:solidFill>
                  <a:srgbClr val="E6EDF3"/>
                </a:solidFill>
                <a:latin typeface="Segoe UI"/>
              </a:rPr>
              <a:t>▸  First-time offenders get a 24-hour edit window. </a:t>
            </a:r>
            <a:r>
              <a:rPr lang="en-US" sz="1200" b="1" dirty="0">
                <a:solidFill>
                  <a:srgbClr val="FF0000"/>
                </a:solidFill>
                <a:latin typeface="Segoe UI"/>
              </a:rPr>
              <a:t>“!recheck”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 auto-rescores. If it passes, the post goes live with no mod action needed.</a:t>
            </a:r>
          </a:p>
          <a:p>
            <a:endParaRPr sz="1400" b="1" dirty="0">
              <a:solidFill>
                <a:srgbClr val="60A5FA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4770120"/>
            <a:ext cx="710051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60A5FA"/>
                </a:solidFill>
                <a:latin typeface="Segoe UI"/>
              </a:rPr>
              <a:t>Shadow Audit Mode</a:t>
            </a:r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r>
              <a:rPr lang="en-US" sz="1200" dirty="0">
                <a:solidFill>
                  <a:srgbClr val="E6EDF3"/>
                </a:solidFill>
                <a:latin typeface="Segoe UI"/>
              </a:rPr>
              <a:t>▸  Test new </a:t>
            </a:r>
            <a:r>
              <a:rPr lang="en-US" sz="1200" b="1" dirty="0">
                <a:solidFill>
                  <a:srgbClr val="E6EDF3"/>
                </a:solidFill>
                <a:latin typeface="Segoe UI"/>
              </a:rPr>
              <a:t>SPAM KEYWORDS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 for 24 hours without enforcing them. Receive a </a:t>
            </a:r>
            <a:r>
              <a:rPr lang="en-US" sz="1200" dirty="0" err="1">
                <a:solidFill>
                  <a:srgbClr val="E6EDF3"/>
                </a:solidFill>
                <a:latin typeface="Segoe UI"/>
              </a:rPr>
              <a:t>modmail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 digest showing exactly what would have been caught.</a:t>
            </a:r>
          </a:p>
          <a:p>
            <a:r>
              <a:rPr lang="en-US" sz="1200" dirty="0">
                <a:solidFill>
                  <a:srgbClr val="34D399"/>
                </a:solidFill>
                <a:latin typeface="Segoe UI"/>
              </a:rPr>
              <a:t>▸  No existing mod tool in the ecosystem ships this pattern.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38638"/>
            <a:ext cx="710051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60A5FA"/>
                </a:solidFill>
                <a:latin typeface="Segoe UI"/>
              </a:rPr>
              <a:t>Coach — the AI co-pilot</a:t>
            </a:r>
            <a:endParaRPr lang="en-US" sz="1400" b="1" dirty="0">
              <a:solidFill>
                <a:srgbClr val="60A5FA"/>
              </a:solidFill>
              <a:latin typeface="Segoe UI"/>
            </a:endParaRPr>
          </a:p>
          <a:p>
            <a:r>
              <a:rPr lang="en-US" sz="1200" dirty="0">
                <a:solidFill>
                  <a:srgbClr val="E6EDF3"/>
                </a:solidFill>
                <a:latin typeface="Segoe UI"/>
              </a:rPr>
              <a:t>▸  Ask plain-English questions. Get answers grounded in this subreddit's actual config, trust records, audit log, and stats. Works with zero API key.</a:t>
            </a:r>
          </a:p>
          <a:p>
            <a:endParaRPr sz="1400" b="1" dirty="0">
              <a:solidFill>
                <a:srgbClr val="60A5FA"/>
              </a:solidFill>
              <a:latin typeface="Segoe U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D5F14F-9F22-351E-C48F-67C3180F22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8" t="1600" r="4083" b="3306"/>
          <a:stretch>
            <a:fillRect/>
          </a:stretch>
        </p:blipFill>
        <p:spPr>
          <a:xfrm>
            <a:off x="7804297" y="1584113"/>
            <a:ext cx="3881608" cy="397329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109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49E"/>
                </a:solidFill>
                <a:latin typeface="Segoe UI"/>
              </a:rPr>
              <a:t>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E6EDF3"/>
                </a:solidFill>
                <a:latin typeface="Segoe UI Semibold"/>
              </a:rPr>
              <a:t>SOS Moderators</a:t>
            </a:r>
            <a:r>
              <a:rPr sz="2400" b="1" dirty="0">
                <a:solidFill>
                  <a:srgbClr val="E6EDF3"/>
                </a:solidFill>
                <a:latin typeface="Segoe UI Semibold"/>
              </a:rPr>
              <a:t> vs. </a:t>
            </a:r>
            <a:r>
              <a:rPr lang="en-US" sz="2400" b="1" dirty="0">
                <a:solidFill>
                  <a:srgbClr val="E6EDF3"/>
                </a:solidFill>
                <a:latin typeface="Segoe UI Semibold"/>
              </a:rPr>
              <a:t>Competitors</a:t>
            </a:r>
            <a:endParaRPr sz="2400" b="1" dirty="0">
              <a:solidFill>
                <a:srgbClr val="E6EDF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841248"/>
            <a:ext cx="11155680" cy="2286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Segoe UI Semibold"/>
              </a:rPr>
              <a:t>✓  We cover the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914400"/>
            <a:ext cx="5577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34D399"/>
                </a:solidFill>
                <a:latin typeface="Segoe UI Semibold"/>
              </a:rPr>
              <a:t>★  Only </a:t>
            </a:r>
            <a:r>
              <a:rPr lang="en-US" sz="1600" b="1" dirty="0">
                <a:solidFill>
                  <a:srgbClr val="34D399"/>
                </a:solidFill>
                <a:latin typeface="Segoe UI Semibold"/>
              </a:rPr>
              <a:t>SOS Moderators</a:t>
            </a:r>
            <a:endParaRPr sz="1500" b="1" dirty="0">
              <a:solidFill>
                <a:srgbClr val="34D399"/>
              </a:solidFill>
              <a:latin typeface="Segoe UI Semi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0" y="914400"/>
            <a:ext cx="22860" cy="566928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389888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8B949E"/>
                </a:solidFill>
                <a:latin typeface="Segoe UI"/>
              </a:rPr>
              <a:t>✓  Keyword / content filtering  (AutoMod)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55064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8B949E"/>
                </a:solidFill>
                <a:latin typeface="Segoe UI"/>
              </a:rPr>
              <a:t>✓  Auto-remove &amp; approve  (AutoMod, PRAW)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20240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8B949E"/>
                </a:solidFill>
                <a:latin typeface="Segoe UI"/>
              </a:rPr>
              <a:t>✓  Banned domain blocking  (AutoMod)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85416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8B949E"/>
                </a:solidFill>
                <a:latin typeface="Segoe UI"/>
              </a:rPr>
              <a:t>✓  Report handling  (AutoMod, PRAW)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450592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Segoe UI"/>
              </a:rPr>
              <a:t>✓  Ban evasion detection  (PRAW)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15768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Segoe UI"/>
              </a:rPr>
              <a:t>✓  Modmail command parsing  (PRAW)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80944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Segoe UI"/>
              </a:rPr>
              <a:t>✓  Mod action log  (Reddit native, Toolbox)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246120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8B949E"/>
                </a:solidFill>
                <a:latin typeface="Segoe UI"/>
              </a:rPr>
              <a:t>✓  Anti-raid gates  (AutoMod partial)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511296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Segoe UI"/>
              </a:rPr>
              <a:t>✓  Flair management  (Reddit native, Toolbox)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776472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Segoe UI"/>
              </a:rPr>
              <a:t>✓  Appeal handling  (PRAW partial)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041648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Segoe UI"/>
              </a:rPr>
              <a:t>✓  Post volume monitoring  (Reddit native)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06824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8B949E"/>
                </a:solidFill>
                <a:latin typeface="Segoe UI"/>
              </a:rPr>
              <a:t>✓  Duplicate detection  (AutoMod basic)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572000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Segoe UI"/>
              </a:rPr>
              <a:t>✓  Removal reason templates  (Toolbox)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837176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Segoe UI"/>
              </a:rPr>
              <a:t>✓  User history / mod notes  (Toolbox)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102352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8B949E"/>
                </a:solidFill>
                <a:latin typeface="Segoe UI"/>
              </a:rPr>
              <a:t>✓  Modqueue triage helpers  (Toolbox)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367528"/>
            <a:ext cx="5486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Segoe UI"/>
              </a:rPr>
              <a:t>✓  Ban with reason + message  (Toolbox, PRAW)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389888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34D399"/>
                </a:solidFill>
                <a:latin typeface="Segoe UI"/>
              </a:rPr>
              <a:t>★  Trust score 0–1000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655064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Trust-as-multiplier spam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920240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Trust decay  (weekly, 90-day inactive floor)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185416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First-time recovery + !recheck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450592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Shadow Audit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715768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Signal-by-signal removal PMs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980944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CIB detection  (3+ reports in 5 min)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246120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Spike detection + !raid command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511296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AI flair auto-assign  (15 categories)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776472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Flair voting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041648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Contribution leaderboard + weekly highlight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306824"/>
            <a:ext cx="5577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34D399"/>
                </a:solidFill>
                <a:latin typeface="Segoe UI"/>
              </a:rPr>
              <a:t>★  S</a:t>
            </a:r>
            <a:r>
              <a:rPr lang="en-US" sz="1050" b="0" dirty="0">
                <a:solidFill>
                  <a:srgbClr val="34D399"/>
                </a:solidFill>
                <a:latin typeface="Segoe UI"/>
              </a:rPr>
              <a:t>OS Moderators</a:t>
            </a:r>
            <a:r>
              <a:rPr sz="1050" b="0" dirty="0">
                <a:solidFill>
                  <a:srgbClr val="34D399"/>
                </a:solidFill>
                <a:latin typeface="Segoe UI"/>
              </a:rPr>
              <a:t> Coach  (AI co-pilot)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572000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Quiet hours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837176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Kill switch  (pause all automation)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102352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6-tab mod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367528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Redis memory 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632704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Trust-weighted report scoring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897880"/>
            <a:ext cx="55778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4D399"/>
                </a:solidFill>
                <a:latin typeface="Segoe UI"/>
              </a:rPr>
              <a:t>★  Toxicity scoring on comments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09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49E"/>
                </a:solidFill>
                <a:latin typeface="Segoe UI"/>
              </a:rPr>
              <a:t>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EDF3"/>
                </a:solidFill>
                <a:latin typeface="Segoe UI Semibold"/>
              </a:rPr>
              <a:t>How We Do It — The 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55680" cy="2286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43000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6EDF3"/>
                </a:solidFill>
                <a:latin typeface="Segoe UI"/>
              </a:rPr>
              <a:t>Stack: TypeScript 5.4 on Devvit 0.12.23. Single dependency: @devvit/public-api. Fully typed end-to-end.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0744"/>
            <a:ext cx="1143000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Segoe UI"/>
              </a:rPr>
              <a:t>Event-driven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1115568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E6EDF3"/>
                </a:solidFill>
                <a:latin typeface="Segoe UI"/>
              </a:rPr>
              <a:t>▸  PostSubmit → spam score → trust score → ban evasion → rate limiter → audit log → action +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21992"/>
            <a:ext cx="1115568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E6EDF3"/>
                </a:solidFill>
                <a:latin typeface="Segoe UI"/>
              </a:rPr>
              <a:t>▸  PostReport → CIB detection → trust-weighted report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42616"/>
            <a:ext cx="1115568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E6EDF3"/>
                </a:solidFill>
                <a:latin typeface="Segoe UI"/>
              </a:rPr>
              <a:t>▸  ModMail → command parser (!recheck, !raid, !shadow-activate, !keyword add/remove/list)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1115568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E6EDF3"/>
                </a:solidFill>
                <a:latin typeface="Segoe UI"/>
              </a:rPr>
              <a:t>▸  Kill switch checked first on every trigger — mods can pause all automation instantly.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83864"/>
            <a:ext cx="1143000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6EDF3"/>
                </a:solidFill>
                <a:latin typeface="Segoe UI"/>
              </a:rPr>
              <a:t>Spam scoring: 9 additive signals (capped at 1.0). Trust discount multiplier applied after summing — not per-signal.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04488"/>
            <a:ext cx="1143000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Segoe UI"/>
              </a:rPr>
              <a:t>AI layer (heuristic-first, LLM 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25112"/>
            <a:ext cx="1115568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E6EDF3"/>
                </a:solidFill>
                <a:latin typeface="Segoe UI"/>
              </a:rPr>
              <a:t>▸  Flair classifier: 15 content categories, bigram detection, negation patterns, density bonus. Auto-applies at ≥80% confidence, suggests at 40–79%.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45736"/>
            <a:ext cx="1115568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E6EDF3"/>
                </a:solidFill>
                <a:latin typeface="Segoe UI"/>
              </a:rPr>
              <a:t>▸  Coach: 12 intent handlers backed by live Redis data. Free-form LLM path with 6-second hard timeout + automatic heuristic fallback.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66360"/>
            <a:ext cx="11430000" cy="44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6EDF3"/>
                </a:solidFill>
                <a:latin typeface="Segoe UI"/>
              </a:rPr>
              <a:t>7 scheduled background jobs: aggregate builder (15 min), spike detector (15 min), trust decay (weekly), flair vote tallier (hourly), weekly highlight, raid expiry, Redis monitor.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86984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1" dirty="0">
              <a:solidFill>
                <a:srgbClr val="8B949E"/>
              </a:solidFill>
              <a:latin typeface="Segoe UI"/>
            </a:endParaRPr>
          </a:p>
          <a:p>
            <a:r>
              <a:rPr sz="1400" b="1" dirty="0">
                <a:solidFill>
                  <a:srgbClr val="8B949E"/>
                </a:solidFill>
                <a:latin typeface="Segoe UI"/>
              </a:rPr>
              <a:t>All Redis keys centralized in schema.ts — no raw string keys anywhere in the codebase.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09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49E"/>
                </a:solidFill>
                <a:latin typeface="Segoe UI"/>
              </a:rPr>
              <a:t>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EDF3"/>
                </a:solidFill>
                <a:latin typeface="Segoe UI Semibold"/>
              </a:rPr>
              <a:t>Architecture — 6 Layers, Clean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55680" cy="2286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8818DB-4739-EA66-AE98-1AF4D17D8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3" y="932688"/>
            <a:ext cx="9932358" cy="58691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55680" cy="2286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404D7C-2D91-3C86-6367-BB149281EB1A}"/>
              </a:ext>
            </a:extLst>
          </p:cNvPr>
          <p:cNvSpPr/>
          <p:nvPr/>
        </p:nvSpPr>
        <p:spPr>
          <a:xfrm>
            <a:off x="412955" y="1187685"/>
            <a:ext cx="10788445" cy="972014"/>
          </a:xfrm>
          <a:prstGeom prst="roundRect">
            <a:avLst/>
          </a:prstGeom>
          <a:solidFill>
            <a:srgbClr val="0066CC">
              <a:alpha val="10196"/>
            </a:srgb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0789920" y="109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49E"/>
                </a:solidFill>
                <a:latin typeface="Segoe UI"/>
              </a:rPr>
              <a:t>9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64592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EDF3"/>
                </a:solidFill>
                <a:latin typeface="Segoe UI Semibold"/>
              </a:rPr>
              <a:t>Platform Constraints — What We Wanted, What We Built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169827"/>
            <a:ext cx="1143000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FBBF24"/>
                </a:solidFill>
                <a:latin typeface="Segoe UI"/>
              </a:rPr>
              <a:t>We wanted to intercept posts before they go live.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1527015"/>
            <a:ext cx="1115568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8B949E"/>
                </a:solidFill>
                <a:latin typeface="Segoe UI"/>
              </a:rPr>
              <a:t>▸  Devvit fires events after submission, not before.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884202"/>
            <a:ext cx="1115568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34D399"/>
                </a:solidFill>
                <a:latin typeface="Segoe UI"/>
              </a:rPr>
              <a:t>▸  Built instant-catch soft-hold: the post is scored and quarantined in the same handler before any user can see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241390"/>
            <a:ext cx="1143000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Segoe UI"/>
              </a:rPr>
              <a:t>We wanted a free-text Q&amp;A interface embedded directly in the dashboard.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598577"/>
            <a:ext cx="1115568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8B949E"/>
                </a:solidFill>
                <a:latin typeface="Segoe UI"/>
              </a:rPr>
              <a:t>▸  Devvit Blocks have no native text input component.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955765"/>
            <a:ext cx="1115568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4D399"/>
                </a:solidFill>
                <a:latin typeface="Segoe UI"/>
              </a:rPr>
              <a:t>▸  Built form modals for free-text questions and 6 pre-populated chips that answer the most common queries without typing anything.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312952"/>
            <a:ext cx="1143000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Segoe UI"/>
              </a:rPr>
              <a:t>We wanted real-time LLM responses with no latency cap.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670140"/>
            <a:ext cx="1115568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8B949E"/>
                </a:solidFill>
                <a:latin typeface="Segoe UI"/>
              </a:rPr>
              <a:t>▸  Devvit handlers hard-timeout at ~10 seconds, making blocking API calls risky.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027327"/>
            <a:ext cx="1115568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4D399"/>
                </a:solidFill>
                <a:latin typeface="Segoe UI"/>
              </a:rPr>
              <a:t>▸  Built a 6-second LLM hard-timeout with automatic fallback to the full heuristic layer — 12 intents always work, with zero API key required.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384515"/>
            <a:ext cx="1143000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Segoe UI"/>
              </a:rPr>
              <a:t>We wanted to store full post history, deep audit trails, and unlimited topic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741702"/>
            <a:ext cx="1115568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8B949E"/>
                </a:solidFill>
                <a:latin typeface="Segoe UI"/>
              </a:rPr>
              <a:t>▸  Redis is capped at 500 MB per app install.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098890"/>
            <a:ext cx="1115568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4D399"/>
                </a:solidFill>
                <a:latin typeface="Segoe UI"/>
              </a:rPr>
              <a:t>▸  Built aggressive TTLs, rolling 7-day aggregates, and a monitor job that alerts mods at 80% and 90% usage before data is lost.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456077"/>
            <a:ext cx="1143000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Segoe UI"/>
              </a:rPr>
              <a:t>We wanted trust scores to follow users across all subreddits they post in.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13265"/>
            <a:ext cx="1115568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8B949E"/>
                </a:solidFill>
                <a:latin typeface="Segoe UI"/>
              </a:rPr>
              <a:t>▸  Redis is isolated per subreddit by platform design — no shared keyspace exists.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170452"/>
            <a:ext cx="11155680" cy="37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0A5FA"/>
                </a:solidFill>
                <a:latin typeface="Segoe UI"/>
              </a:rPr>
              <a:t>▸  Per-subreddit trust is the foundation. Cross-subreddit trust scoring is the primary post-launch milestone as adoption grows.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A54FB4-FA56-E232-6527-2ED467235D14}"/>
              </a:ext>
            </a:extLst>
          </p:cNvPr>
          <p:cNvSpPr/>
          <p:nvPr/>
        </p:nvSpPr>
        <p:spPr>
          <a:xfrm>
            <a:off x="412955" y="2267209"/>
            <a:ext cx="10788445" cy="997662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CC16D7-209F-2EAA-4BEF-D10129628D02}"/>
              </a:ext>
            </a:extLst>
          </p:cNvPr>
          <p:cNvSpPr/>
          <p:nvPr/>
        </p:nvSpPr>
        <p:spPr>
          <a:xfrm>
            <a:off x="412954" y="3330811"/>
            <a:ext cx="10788445" cy="1014107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FFBAB5-09E7-D681-C039-CDF174834080}"/>
              </a:ext>
            </a:extLst>
          </p:cNvPr>
          <p:cNvSpPr/>
          <p:nvPr/>
        </p:nvSpPr>
        <p:spPr>
          <a:xfrm>
            <a:off x="412955" y="4392644"/>
            <a:ext cx="10788445" cy="997662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F50446-687B-2EB6-A28A-9BA8641C7819}"/>
              </a:ext>
            </a:extLst>
          </p:cNvPr>
          <p:cNvSpPr/>
          <p:nvPr/>
        </p:nvSpPr>
        <p:spPr>
          <a:xfrm>
            <a:off x="412955" y="5464653"/>
            <a:ext cx="10788445" cy="997662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55680" cy="2286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0" y="109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49E"/>
                </a:solidFill>
                <a:latin typeface="Segoe UI"/>
              </a:rPr>
              <a:t>10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64592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E6EDF3"/>
                </a:solidFill>
                <a:latin typeface="Segoe UI Semibold"/>
              </a:rPr>
              <a:t>SOS Moderators</a:t>
            </a:r>
            <a:r>
              <a:rPr sz="2400" b="1" dirty="0">
                <a:solidFill>
                  <a:srgbClr val="E6EDF3"/>
                </a:solidFill>
                <a:latin typeface="Segoe UI Semibold"/>
              </a:rPr>
              <a:t> — The Moderation Co-Pilot Reddit Needs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960120"/>
            <a:ext cx="11430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E6EDF3"/>
                </a:solidFill>
                <a:latin typeface="Segoe UI"/>
              </a:rPr>
              <a:t>Reddit has over 100,000 active subreddits. </a:t>
            </a:r>
            <a:r>
              <a:rPr lang="en-US" sz="1400" b="1" dirty="0">
                <a:solidFill>
                  <a:srgbClr val="E6EDF3"/>
                </a:solidFill>
                <a:latin typeface="Segoe UI"/>
              </a:rPr>
              <a:t>Each</a:t>
            </a:r>
            <a:r>
              <a:rPr sz="1400" b="1" dirty="0">
                <a:solidFill>
                  <a:srgbClr val="E6EDF3"/>
                </a:solidFill>
                <a:latin typeface="Segoe UI"/>
              </a:rPr>
              <a:t> is run by unpaid volunteers — and moderation burnout is the most predictable failure mode in community building.</a:t>
            </a:r>
            <a:endParaRPr lang="en-US" sz="1400" b="1" dirty="0">
              <a:solidFill>
                <a:srgbClr val="E6EDF3"/>
              </a:solidFill>
              <a:latin typeface="Segoe UI"/>
            </a:endParaRPr>
          </a:p>
          <a:p>
            <a:endParaRPr lang="en-US" sz="1400" b="1" dirty="0">
              <a:solidFill>
                <a:srgbClr val="E6EDF3"/>
              </a:solidFill>
              <a:latin typeface="Segoe UI"/>
            </a:endParaRPr>
          </a:p>
          <a:p>
            <a:r>
              <a:rPr lang="en-US" sz="1400" b="1" dirty="0">
                <a:solidFill>
                  <a:srgbClr val="FF4500"/>
                </a:solidFill>
                <a:latin typeface="Segoe UI"/>
              </a:rPr>
              <a:t>SOS Moderators is the first moderation co-pilot: prevent violations, explain every removal, recover first-time offenders automatically, and answer plain-English questions about your subreddit's live data.</a:t>
            </a:r>
          </a:p>
          <a:p>
            <a:endParaRPr sz="1400" b="1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2186095"/>
            <a:ext cx="64047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E6EDF3"/>
                </a:solidFill>
                <a:latin typeface="Segoe UI"/>
              </a:rPr>
              <a:t>Backed by research:</a:t>
            </a:r>
            <a:endParaRPr lang="en-US" sz="2000" b="1" dirty="0">
              <a:solidFill>
                <a:srgbClr val="E6EDF3"/>
              </a:solidFill>
              <a:latin typeface="Segoe UI"/>
            </a:endParaRPr>
          </a:p>
          <a:p>
            <a:pPr lvl="1"/>
            <a:r>
              <a:rPr lang="en-US" sz="1200" dirty="0">
                <a:solidFill>
                  <a:srgbClr val="60A5FA"/>
                </a:solidFill>
                <a:latin typeface="Segoe UI"/>
              </a:rPr>
              <a:t>▸  Jhaver et al. (CSCW 2019): removal explanations cut repeat violations by 20.8%. SOS Moderators delivers this for every flagged post, automatically, at zero cost to the mod.</a:t>
            </a:r>
          </a:p>
          <a:p>
            <a:endParaRPr sz="1400" b="1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3156340"/>
            <a:ext cx="64047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E6EDF3"/>
                </a:solidFill>
                <a:latin typeface="Segoe UI"/>
              </a:rPr>
              <a:t>No equivalent exists:</a:t>
            </a:r>
            <a:endParaRPr lang="en-US" sz="2000" b="1" dirty="0">
              <a:solidFill>
                <a:srgbClr val="E6EDF3"/>
              </a:solidFill>
              <a:latin typeface="Segoe UI"/>
            </a:endParaRPr>
          </a:p>
          <a:p>
            <a:pPr lvl="1"/>
            <a:r>
              <a:rPr lang="en-US" sz="1400" dirty="0">
                <a:solidFill>
                  <a:srgbClr val="E6EDF3"/>
                </a:solidFill>
                <a:latin typeface="Segoe UI"/>
              </a:rPr>
              <a:t>▸  </a:t>
            </a:r>
            <a:r>
              <a:rPr lang="en-US" sz="1200" dirty="0">
                <a:solidFill>
                  <a:srgbClr val="E6EDF3"/>
                </a:solidFill>
                <a:latin typeface="Segoe UI"/>
              </a:rPr>
              <a:t>AutoMod writes rules. Toolbox assists decisions. PRAW bots automate single tasks. SOS Moderators is the only tool that covers the full moderation lifecycle — and the only one with a data-grounded AI co-pilot that requires no API key.</a:t>
            </a:r>
          </a:p>
          <a:p>
            <a:endParaRPr sz="1400" b="1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4166872"/>
            <a:ext cx="64047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E6EDF3"/>
                </a:solidFill>
                <a:latin typeface="Segoe UI"/>
              </a:rPr>
              <a:t>Built to scale:</a:t>
            </a:r>
            <a:endParaRPr lang="en-US" sz="2000" b="1" dirty="0">
              <a:solidFill>
                <a:srgbClr val="E6EDF3"/>
              </a:solidFill>
              <a:latin typeface="Segoe UI"/>
            </a:endParaRPr>
          </a:p>
          <a:p>
            <a:pPr lvl="1"/>
            <a:r>
              <a:rPr lang="en-US" sz="1200" dirty="0">
                <a:solidFill>
                  <a:srgbClr val="60A5FA"/>
                </a:solidFill>
                <a:latin typeface="Segoe UI"/>
              </a:rPr>
              <a:t>▸  Native Devvit app. No external server. No maintenance. One-click install. As more communities adopt SOS Moderators, a cross-subreddit trust network becomes possible — a reputation layer Reddit does not have today.</a:t>
            </a:r>
          </a:p>
          <a:p>
            <a:endParaRPr sz="1400" b="1" dirty="0">
              <a:solidFill>
                <a:srgbClr val="E6EDF3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5316981"/>
            <a:ext cx="640477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FF4500"/>
                </a:solidFill>
                <a:latin typeface="Segoe UI"/>
              </a:rPr>
              <a:t>The return on installing </a:t>
            </a:r>
            <a:r>
              <a:rPr lang="en-US" sz="2000" b="1" dirty="0">
                <a:solidFill>
                  <a:srgbClr val="FF4500"/>
                </a:solidFill>
                <a:latin typeface="Segoe UI"/>
              </a:rPr>
              <a:t>SOS Moderators</a:t>
            </a:r>
            <a:r>
              <a:rPr sz="2000" b="1" dirty="0">
                <a:solidFill>
                  <a:srgbClr val="FF4500"/>
                </a:solidFill>
                <a:latin typeface="Segoe UI"/>
              </a:rPr>
              <a:t>:</a:t>
            </a:r>
            <a:endParaRPr lang="en-US" sz="2000" b="1" dirty="0">
              <a:solidFill>
                <a:srgbClr val="FF4500"/>
              </a:solidFill>
              <a:latin typeface="Segoe UI"/>
            </a:endParaRPr>
          </a:p>
          <a:p>
            <a:pPr lvl="1"/>
            <a:r>
              <a:rPr lang="en-US" sz="1200" dirty="0">
                <a:solidFill>
                  <a:srgbClr val="34D399"/>
                </a:solidFill>
                <a:latin typeface="Segoe UI"/>
              </a:rPr>
              <a:t>▸  Less time in the queue. More context on every decision. First-time users get a fair shot. Bad actors face a system that learns.</a:t>
            </a:r>
          </a:p>
          <a:p>
            <a:pPr lvl="1"/>
            <a:r>
              <a:rPr lang="en-US" sz="1200" dirty="0">
                <a:solidFill>
                  <a:srgbClr val="E6EDF3"/>
                </a:solidFill>
                <a:latin typeface="Segoe UI"/>
              </a:rPr>
              <a:t>▸  Mods shouldn't need to be developers to run a healthy subreddit.</a:t>
            </a:r>
          </a:p>
          <a:p>
            <a:pPr lvl="1"/>
            <a:r>
              <a:rPr lang="en-US" sz="1200" dirty="0">
                <a:solidFill>
                  <a:srgbClr val="FBBF24"/>
                </a:solidFill>
                <a:latin typeface="Segoe UI"/>
              </a:rPr>
              <a:t>▸  Every subreddit deserves a co-pilot.</a:t>
            </a:r>
          </a:p>
          <a:p>
            <a:endParaRPr lang="en-US" sz="1200" dirty="0">
              <a:solidFill>
                <a:srgbClr val="E6EDF3"/>
              </a:solidFill>
              <a:latin typeface="Segoe UI"/>
            </a:endParaRPr>
          </a:p>
          <a:p>
            <a:endParaRPr sz="1400" b="1" dirty="0">
              <a:solidFill>
                <a:srgbClr val="FF4500"/>
              </a:solidFill>
              <a:latin typeface="Segoe U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59DE89-1438-2433-6617-D80A4AF6F3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8" t="1600" r="4083" b="3306"/>
          <a:stretch>
            <a:fillRect/>
          </a:stretch>
        </p:blipFill>
        <p:spPr>
          <a:xfrm>
            <a:off x="7776992" y="2395506"/>
            <a:ext cx="3881608" cy="3973290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1829</Words>
  <Application>Microsoft Office PowerPoint</Application>
  <PresentationFormat>Custom</PresentationFormat>
  <Paragraphs>156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Shasanmi, Solomon</cp:lastModifiedBy>
  <cp:revision>3</cp:revision>
  <dcterms:created xsi:type="dcterms:W3CDTF">2013-01-27T09:14:16Z</dcterms:created>
  <dcterms:modified xsi:type="dcterms:W3CDTF">2026-05-26T21:24:18Z</dcterms:modified>
  <cp:category/>
</cp:coreProperties>
</file>